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300" r:id="rId2"/>
    <p:sldId id="308" r:id="rId3"/>
    <p:sldId id="295" r:id="rId4"/>
    <p:sldId id="301" r:id="rId5"/>
    <p:sldId id="302" r:id="rId6"/>
    <p:sldId id="303" r:id="rId7"/>
    <p:sldId id="304" r:id="rId8"/>
    <p:sldId id="305" r:id="rId9"/>
    <p:sldId id="306" r:id="rId10"/>
    <p:sldId id="309" r:id="rId11"/>
    <p:sldId id="307" r:id="rId12"/>
    <p:sldId id="310" r:id="rId13"/>
    <p:sldId id="312" r:id="rId14"/>
    <p:sldId id="313" r:id="rId15"/>
    <p:sldId id="314" r:id="rId16"/>
    <p:sldId id="315" r:id="rId17"/>
    <p:sldId id="31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dlock,Adelaida" initials="M" lastIdx="12" clrIdx="0">
    <p:extLst>
      <p:ext uri="{19B8F6BF-5375-455C-9EA6-DF929625EA0E}">
        <p15:presenceInfo xmlns:p15="http://schemas.microsoft.com/office/powerpoint/2012/main" userId="Medlock,Adelaida" providerId="None"/>
      </p:ext>
    </p:extLst>
  </p:cmAuthor>
  <p:cmAuthor id="2" name="Medlock,Adelaida" initials="M [2]" lastIdx="6" clrIdx="1">
    <p:extLst>
      <p:ext uri="{19B8F6BF-5375-455C-9EA6-DF929625EA0E}">
        <p15:presenceInfo xmlns:p15="http://schemas.microsoft.com/office/powerpoint/2012/main" userId="S::aalban@drexel.edu::e181df35-e1d1-43cd-89fc-1b57d455f9e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E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4" autoAdjust="0"/>
    <p:restoredTop sz="57478" autoAdjust="0"/>
  </p:normalViewPr>
  <p:slideViewPr>
    <p:cSldViewPr snapToGrid="0">
      <p:cViewPr varScale="1">
        <p:scale>
          <a:sx n="83" d="100"/>
          <a:sy n="83" d="100"/>
        </p:scale>
        <p:origin x="110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7DBE75-8B9B-49FE-8B76-092B070B39D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4527E-1600-4A3E-B150-68F0AF2DB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883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following presentation is a guided tour to familiarize yourself with what’s available in the Student Code Repo.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code may be used in class, and while not explicitly required, it is best to site if you use it.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not going to go over the repo line by line, but merely point out what you should be looking at within the repo.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Self exploration is an important skill to develop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4527E-1600-4A3E-B150-68F0AF2DBA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795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4527E-1600-4A3E-B150-68F0AF2DBA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760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The following directories exist. </a:t>
            </a:r>
          </a:p>
          <a:p>
            <a:r>
              <a:rPr lang="en-US" b="0" dirty="0"/>
              <a:t>We’ll look at them one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4527E-1600-4A3E-B150-68F0AF2DBA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53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The first code to look at is </a:t>
            </a:r>
            <a:r>
              <a:rPr lang="en-US" b="0" dirty="0" err="1"/>
              <a:t>abstracatInputOutput</a:t>
            </a:r>
            <a:r>
              <a:rPr lang="en-US" b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4527E-1600-4A3E-B150-68F0AF2DBAC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715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This project shows examples of input and output. </a:t>
            </a:r>
          </a:p>
          <a:p>
            <a:r>
              <a:rPr lang="en-US" b="0" dirty="0"/>
              <a:t>You can output to the:</a:t>
            </a:r>
          </a:p>
          <a:p>
            <a:r>
              <a:rPr lang="en-US" b="0" dirty="0"/>
              <a:t>Console</a:t>
            </a:r>
          </a:p>
          <a:p>
            <a:r>
              <a:rPr lang="en-US" b="0" dirty="0"/>
              <a:t>A file, </a:t>
            </a:r>
          </a:p>
          <a:p>
            <a:r>
              <a:rPr lang="en-US" b="0" dirty="0"/>
              <a:t>Or even audio.</a:t>
            </a:r>
          </a:p>
          <a:p>
            <a:r>
              <a:rPr lang="en-US" b="0" dirty="0"/>
              <a:t>You can input from the console as a string or an integer. </a:t>
            </a:r>
          </a:p>
          <a:p>
            <a:endParaRPr lang="en-US" b="0" dirty="0"/>
          </a:p>
          <a:p>
            <a:r>
              <a:rPr lang="en-US" b="0" dirty="0"/>
              <a:t>Furthermore, note, that you can change the instance of Out so the target of outputting changes, but the driver of the program doesn’t need to change beyond that. 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4527E-1600-4A3E-B150-68F0AF2DBAC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5950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Basic Inheritance is actually poorly titled. It really shows the various ways you can pass variables as parameters.</a:t>
            </a:r>
          </a:p>
          <a:p>
            <a:r>
              <a:rPr lang="en-US" b="0" dirty="0"/>
              <a:t>This illustrates concepts like pass by reference, by value and passing a copy of a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4527E-1600-4A3E-B150-68F0AF2DBAC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82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The inheritance Examples shows a very basic base class and an empty derived class.</a:t>
            </a:r>
          </a:p>
          <a:p>
            <a:r>
              <a:rPr lang="en-US" b="0" dirty="0"/>
              <a:t>You can play with this to see what methods of the base class are visible in the derived class.</a:t>
            </a:r>
          </a:p>
          <a:p>
            <a:r>
              <a:rPr lang="en-US" b="0" dirty="0"/>
              <a:t>Note that in the base class are methods that are public, protected and private.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4527E-1600-4A3E-B150-68F0AF2DBAC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681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The project also has an example of inheritance with overriding some of the methods from the base class by creating new ones in the base class.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4527E-1600-4A3E-B150-68F0AF2DBAC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0801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List and arrays is a single file program that demonstrate how to use an Array, Linked List, and an Array Lists.</a:t>
            </a:r>
          </a:p>
          <a:p>
            <a:r>
              <a:rPr lang="en-US" b="0" dirty="0"/>
              <a:t>The example includes adding and removing items as well as converting from one list form to another.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4527E-1600-4A3E-B150-68F0AF2DBAC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2892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The Static examples project has two programs.</a:t>
            </a:r>
          </a:p>
          <a:p>
            <a:r>
              <a:rPr lang="en-US" b="0" dirty="0"/>
              <a:t>Let’s look at </a:t>
            </a:r>
            <a:r>
              <a:rPr lang="en-US" b="0" dirty="0" err="1"/>
              <a:t>SquareRoot</a:t>
            </a:r>
            <a:r>
              <a:rPr lang="en-US" b="0" dirty="0"/>
              <a:t> first. </a:t>
            </a:r>
          </a:p>
          <a:p>
            <a:r>
              <a:rPr lang="en-US" b="0" dirty="0"/>
              <a:t>It uses static in the method declaration called </a:t>
            </a:r>
            <a:r>
              <a:rPr lang="en-US" b="0" dirty="0" err="1"/>
              <a:t>squareRoot</a:t>
            </a:r>
            <a:r>
              <a:rPr lang="en-US" b="0" dirty="0"/>
              <a:t>.</a:t>
            </a:r>
          </a:p>
          <a:p>
            <a:r>
              <a:rPr lang="en-US" b="0" dirty="0"/>
              <a:t>This allows the method to be called by referencing it from main with the </a:t>
            </a:r>
            <a:r>
              <a:rPr lang="en-US" b="0" dirty="0" err="1"/>
              <a:t>classname</a:t>
            </a:r>
            <a:r>
              <a:rPr lang="en-US" b="0" dirty="0"/>
              <a:t> and not having to instantiate an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4527E-1600-4A3E-B150-68F0AF2DBAC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0116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The next example is counter which shows the use of a static variable, count.</a:t>
            </a:r>
          </a:p>
          <a:p>
            <a:r>
              <a:rPr lang="en-US" b="0" dirty="0"/>
              <a:t>Count is declared once and is a single instance for the entire program.</a:t>
            </a:r>
          </a:p>
          <a:p>
            <a:r>
              <a:rPr lang="en-US" b="0" dirty="0"/>
              <a:t>Static is also used in the definitions of tick and </a:t>
            </a:r>
            <a:r>
              <a:rPr lang="en-US" b="0" dirty="0" err="1"/>
              <a:t>getCount</a:t>
            </a:r>
            <a:r>
              <a:rPr lang="en-US" b="0" dirty="0"/>
              <a:t> as it was in the previous square root method.</a:t>
            </a:r>
          </a:p>
          <a:p>
            <a:r>
              <a:rPr lang="en-US" b="0" dirty="0"/>
              <a:t>This allows the two methods to be called by referencing them from a class not an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4527E-1600-4A3E-B150-68F0AF2DBAC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884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This example highlights a number of features of Java.</a:t>
            </a:r>
          </a:p>
          <a:p>
            <a:r>
              <a:rPr lang="en-US" b="0" dirty="0"/>
              <a:t>There is a basic example of how to read a file line by line in </a:t>
            </a:r>
            <a:r>
              <a:rPr lang="en-US" b="0" dirty="0" err="1"/>
              <a:t>readFileLinebyLine</a:t>
            </a:r>
            <a:r>
              <a:rPr lang="en-US" b="0" dirty="0"/>
              <a:t> (</a:t>
            </a:r>
            <a:r>
              <a:rPr lang="en-US" b="0" dirty="0" err="1"/>
              <a:t>TransientWhenSerializing</a:t>
            </a:r>
            <a:r>
              <a:rPr lang="en-US" b="0" dirty="0"/>
              <a:t>).</a:t>
            </a:r>
          </a:p>
          <a:p>
            <a:r>
              <a:rPr lang="en-US" b="0" dirty="0"/>
              <a:t>We then have a function to serialize the class </a:t>
            </a:r>
            <a:r>
              <a:rPr lang="en-US" b="0" dirty="0" err="1"/>
              <a:t>TransientWhenSerializing</a:t>
            </a:r>
            <a:r>
              <a:rPr lang="en-US" b="0" dirty="0"/>
              <a:t> as well as deserialize it.</a:t>
            </a:r>
          </a:p>
          <a:p>
            <a:r>
              <a:rPr lang="en-US" b="0" dirty="0"/>
              <a:t>Pay attention to the use of the keyword transient, to prevent unwanted values to be serialized with the class.</a:t>
            </a:r>
          </a:p>
          <a:p>
            <a:r>
              <a:rPr lang="en-US" b="0" dirty="0" err="1"/>
              <a:t>ExampleMain</a:t>
            </a:r>
            <a:r>
              <a:rPr lang="en-US" b="0" dirty="0"/>
              <a:t> demonstrates their use.</a:t>
            </a:r>
          </a:p>
          <a:p>
            <a:endParaRPr lang="en-US" b="0" dirty="0"/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4527E-1600-4A3E-B150-68F0AF2DBAC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7806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/>
              <a:t>These applied examples were designed to show an ever-growing example which should give you an idea of the scope of what’s needed for homework #2.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/>
              <a:t>We start with a basic example and add functionality to it, one step at a time.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/>
              <a:t>In this </a:t>
            </a:r>
            <a:r>
              <a:rPr lang="en-US" sz="1200" b="0" dirty="0" err="1"/>
              <a:t>powerpoint</a:t>
            </a:r>
            <a:r>
              <a:rPr lang="en-US" sz="1200" b="0" dirty="0"/>
              <a:t>, we’ll show you just the UML, but you should be investigating the code as well.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4527E-1600-4A3E-B150-68F0AF2DBAC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7901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  <a:p>
            <a:r>
              <a:rPr lang="en-US" b="0" dirty="0"/>
              <a:t>The first applied example shows the relationship between a car and an odometer, which is an has-a relationship.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4527E-1600-4A3E-B150-68F0AF2DBAC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934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  <a:p>
            <a:r>
              <a:rPr lang="en-US" b="0" dirty="0"/>
              <a:t>Next, we add a city to the example. Showing that a city has cars which has odometers.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4527E-1600-4A3E-B150-68F0AF2DBAC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6439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  <a:p>
            <a:r>
              <a:rPr lang="en-US" b="0" dirty="0"/>
              <a:t>Continuing our example we show how these objects can be serialized. 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4527E-1600-4A3E-B150-68F0AF2DBAC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7884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The following is a much larger example adding vehicle other than cars and their components as well as utilities and plenty of details to give you even more examples. Car </a:t>
            </a:r>
            <a:r>
              <a:rPr lang="en-US" b="0" dirty="0" err="1"/>
              <a:t>CityVersion</a:t>
            </a:r>
            <a:r>
              <a:rPr lang="en-US" b="0" dirty="0"/>
              <a:t> does not have the non </a:t>
            </a:r>
            <a:r>
              <a:rPr lang="en-US" b="0"/>
              <a:t>car vehicles. </a:t>
            </a:r>
            <a:endParaRPr lang="en-US" b="0" dirty="0"/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4527E-1600-4A3E-B150-68F0AF2DBAC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8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2C16E-6EFC-4C1E-B4DD-6F59341D740A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F6EB0-70D3-4C56-9A41-666302739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1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2C16E-6EFC-4C1E-B4DD-6F59341D740A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F6EB0-70D3-4C56-9A41-666302739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827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2C16E-6EFC-4C1E-B4DD-6F59341D740A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F6EB0-70D3-4C56-9A41-666302739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008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2C16E-6EFC-4C1E-B4DD-6F59341D740A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F6EB0-70D3-4C56-9A41-666302739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362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2C16E-6EFC-4C1E-B4DD-6F59341D740A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F6EB0-70D3-4C56-9A41-666302739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114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2C16E-6EFC-4C1E-B4DD-6F59341D740A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F6EB0-70D3-4C56-9A41-666302739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976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2C16E-6EFC-4C1E-B4DD-6F59341D740A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F6EB0-70D3-4C56-9A41-666302739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969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2C16E-6EFC-4C1E-B4DD-6F59341D740A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F6EB0-70D3-4C56-9A41-666302739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030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2C16E-6EFC-4C1E-B4DD-6F59341D740A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F6EB0-70D3-4C56-9A41-666302739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17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2C16E-6EFC-4C1E-B4DD-6F59341D740A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F6EB0-70D3-4C56-9A41-666302739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37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2C16E-6EFC-4C1E-B4DD-6F59341D740A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F6EB0-70D3-4C56-9A41-666302739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625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2C16E-6EFC-4C1E-B4DD-6F59341D740A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F6EB0-70D3-4C56-9A41-666302739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6857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jpg"/><Relationship Id="rId5" Type="http://schemas.openxmlformats.org/officeDocument/2006/relationships/image" Target="../media/image3.wmf"/><Relationship Id="rId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5.jpg"/><Relationship Id="rId5" Type="http://schemas.openxmlformats.org/officeDocument/2006/relationships/image" Target="../media/image3.wmf"/><Relationship Id="rId4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5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7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8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A1473A6-3F22-483E-8A30-80B9D2B14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A1375E3-3E53-4D75-BAB7-E5929BFCB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534368" y="563918"/>
            <a:ext cx="4119932" cy="5978614"/>
            <a:chOff x="7513372" y="803186"/>
            <a:chExt cx="4163968" cy="5978614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0BBEEF67-3DDF-46CF-8CD5-EA5F0E4FB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89586" y="1070835"/>
              <a:ext cx="687754" cy="5710965"/>
            </a:xfrm>
            <a:custGeom>
              <a:avLst/>
              <a:gdLst>
                <a:gd name="T0" fmla="*/ 414 w 414"/>
                <a:gd name="T1" fmla="*/ 2447 h 2447"/>
                <a:gd name="T2" fmla="*/ 0 w 414"/>
                <a:gd name="T3" fmla="*/ 2247 h 2447"/>
                <a:gd name="T4" fmla="*/ 0 w 414"/>
                <a:gd name="T5" fmla="*/ 0 h 2447"/>
                <a:gd name="T6" fmla="*/ 414 w 414"/>
                <a:gd name="T7" fmla="*/ 200 h 2447"/>
                <a:gd name="T8" fmla="*/ 414 w 414"/>
                <a:gd name="T9" fmla="*/ 2447 h 2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4" h="2447">
                  <a:moveTo>
                    <a:pt x="414" y="2447"/>
                  </a:moveTo>
                  <a:lnTo>
                    <a:pt x="0" y="2247"/>
                  </a:lnTo>
                  <a:lnTo>
                    <a:pt x="0" y="0"/>
                  </a:lnTo>
                  <a:lnTo>
                    <a:pt x="414" y="200"/>
                  </a:lnTo>
                  <a:lnTo>
                    <a:pt x="414" y="244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8FAC1C95-F817-487C-B8B2-CF141FBB1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88949" y="803186"/>
              <a:ext cx="409371" cy="5521414"/>
            </a:xfrm>
            <a:custGeom>
              <a:avLst/>
              <a:gdLst>
                <a:gd name="T0" fmla="*/ 209 w 209"/>
                <a:gd name="T1" fmla="*/ 2246 h 2358"/>
                <a:gd name="T2" fmla="*/ 0 w 209"/>
                <a:gd name="T3" fmla="*/ 2358 h 2358"/>
                <a:gd name="T4" fmla="*/ 0 w 209"/>
                <a:gd name="T5" fmla="*/ 111 h 2358"/>
                <a:gd name="T6" fmla="*/ 209 w 209"/>
                <a:gd name="T7" fmla="*/ 0 h 2358"/>
                <a:gd name="T8" fmla="*/ 209 w 209"/>
                <a:gd name="T9" fmla="*/ 2246 h 2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9" h="2358">
                  <a:moveTo>
                    <a:pt x="209" y="2246"/>
                  </a:moveTo>
                  <a:lnTo>
                    <a:pt x="0" y="2358"/>
                  </a:lnTo>
                  <a:lnTo>
                    <a:pt x="0" y="111"/>
                  </a:lnTo>
                  <a:lnTo>
                    <a:pt x="209" y="0"/>
                  </a:lnTo>
                  <a:lnTo>
                    <a:pt x="209" y="2246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C2C5363A-D941-4AA1-8D38-D7E44A1E2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13372" y="804101"/>
              <a:ext cx="3880238" cy="52516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08357E0-9625-4867-BF81-0EE4AE78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468" y="885651"/>
            <a:ext cx="3229803" cy="46246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Student Repo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7B8F8-6A5C-43AA-A296-58058FCD5130}"/>
              </a:ext>
            </a:extLst>
          </p:cNvPr>
          <p:cNvSpPr txBox="1"/>
          <p:nvPr/>
        </p:nvSpPr>
        <p:spPr>
          <a:xfrm>
            <a:off x="4978708" y="885651"/>
            <a:ext cx="6525220" cy="4616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dirty="0"/>
              <a:t>Review of the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StudentRepo.zip </a:t>
            </a:r>
            <a:r>
              <a:rPr lang="en-US" sz="2400" b="1" dirty="0"/>
              <a:t>code repository</a:t>
            </a:r>
          </a:p>
          <a:p>
            <a:endParaRPr lang="en-US" sz="2400" b="1" dirty="0"/>
          </a:p>
          <a:p>
            <a:r>
              <a:rPr lang="en-US" sz="2400" b="1" dirty="0"/>
              <a:t>Two main types of examples.</a:t>
            </a:r>
          </a:p>
          <a:p>
            <a:endParaRPr lang="en-US" sz="2400" b="1" dirty="0"/>
          </a:p>
          <a:p>
            <a:r>
              <a:rPr lang="en-US" sz="2400" b="1" dirty="0"/>
              <a:t>Generic Examples</a:t>
            </a:r>
          </a:p>
          <a:p>
            <a:r>
              <a:rPr lang="en-US" sz="2400" b="1" dirty="0"/>
              <a:t>Applied Examples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29352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A1473A6-3F22-483E-8A30-80B9D2B14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A1375E3-3E53-4D75-BAB7-E5929BFCB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534368" y="563918"/>
            <a:ext cx="4119932" cy="5978614"/>
            <a:chOff x="7513372" y="803186"/>
            <a:chExt cx="4163968" cy="5978614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0BBEEF67-3DDF-46CF-8CD5-EA5F0E4FB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89586" y="1070835"/>
              <a:ext cx="687754" cy="5710965"/>
            </a:xfrm>
            <a:custGeom>
              <a:avLst/>
              <a:gdLst>
                <a:gd name="T0" fmla="*/ 414 w 414"/>
                <a:gd name="T1" fmla="*/ 2447 h 2447"/>
                <a:gd name="T2" fmla="*/ 0 w 414"/>
                <a:gd name="T3" fmla="*/ 2247 h 2447"/>
                <a:gd name="T4" fmla="*/ 0 w 414"/>
                <a:gd name="T5" fmla="*/ 0 h 2447"/>
                <a:gd name="T6" fmla="*/ 414 w 414"/>
                <a:gd name="T7" fmla="*/ 200 h 2447"/>
                <a:gd name="T8" fmla="*/ 414 w 414"/>
                <a:gd name="T9" fmla="*/ 2447 h 2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4" h="2447">
                  <a:moveTo>
                    <a:pt x="414" y="2447"/>
                  </a:moveTo>
                  <a:lnTo>
                    <a:pt x="0" y="2247"/>
                  </a:lnTo>
                  <a:lnTo>
                    <a:pt x="0" y="0"/>
                  </a:lnTo>
                  <a:lnTo>
                    <a:pt x="414" y="200"/>
                  </a:lnTo>
                  <a:lnTo>
                    <a:pt x="414" y="244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8FAC1C95-F817-487C-B8B2-CF141FBB1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88949" y="803186"/>
              <a:ext cx="409371" cy="5521414"/>
            </a:xfrm>
            <a:custGeom>
              <a:avLst/>
              <a:gdLst>
                <a:gd name="T0" fmla="*/ 209 w 209"/>
                <a:gd name="T1" fmla="*/ 2246 h 2358"/>
                <a:gd name="T2" fmla="*/ 0 w 209"/>
                <a:gd name="T3" fmla="*/ 2358 h 2358"/>
                <a:gd name="T4" fmla="*/ 0 w 209"/>
                <a:gd name="T5" fmla="*/ 111 h 2358"/>
                <a:gd name="T6" fmla="*/ 209 w 209"/>
                <a:gd name="T7" fmla="*/ 0 h 2358"/>
                <a:gd name="T8" fmla="*/ 209 w 209"/>
                <a:gd name="T9" fmla="*/ 2246 h 2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9" h="2358">
                  <a:moveTo>
                    <a:pt x="209" y="2246"/>
                  </a:moveTo>
                  <a:lnTo>
                    <a:pt x="0" y="2358"/>
                  </a:lnTo>
                  <a:lnTo>
                    <a:pt x="0" y="111"/>
                  </a:lnTo>
                  <a:lnTo>
                    <a:pt x="209" y="0"/>
                  </a:lnTo>
                  <a:lnTo>
                    <a:pt x="209" y="2246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C2C5363A-D941-4AA1-8D38-D7E44A1E2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13372" y="804101"/>
              <a:ext cx="3880238" cy="52516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08357E0-9625-4867-BF81-0EE4AE78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468" y="885651"/>
            <a:ext cx="3229803" cy="46246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Generic Examples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7B8F8-6A5C-43AA-A296-58058FCD5130}"/>
              </a:ext>
            </a:extLst>
          </p:cNvPr>
          <p:cNvSpPr txBox="1"/>
          <p:nvPr/>
        </p:nvSpPr>
        <p:spPr>
          <a:xfrm>
            <a:off x="4978708" y="885651"/>
            <a:ext cx="6525220" cy="4616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dirty="0"/>
              <a:t>Designed to show a specific concept of Java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66547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357E0-9625-4867-BF81-0EE4AE78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332961"/>
          </a:xfrm>
        </p:spPr>
        <p:txBody>
          <a:bodyPr>
            <a:normAutofit/>
          </a:bodyPr>
          <a:lstStyle/>
          <a:p>
            <a:r>
              <a:rPr lang="en-US" sz="1600" dirty="0"/>
              <a:t>SE 310 - Student Repo</a:t>
            </a:r>
            <a:endParaRPr lang="en-US" sz="160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7B8F8-6A5C-43AA-A296-58058FCD5130}"/>
              </a:ext>
            </a:extLst>
          </p:cNvPr>
          <p:cNvSpPr txBox="1"/>
          <p:nvPr/>
        </p:nvSpPr>
        <p:spPr>
          <a:xfrm>
            <a:off x="0" y="412474"/>
            <a:ext cx="12192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following directories exist. </a:t>
            </a:r>
          </a:p>
          <a:p>
            <a:endParaRPr lang="en-US" dirty="0"/>
          </a:p>
          <a:p>
            <a:r>
              <a:rPr lang="en-US" dirty="0"/>
              <a:t>10/02/2020  01:31 PM    &lt;DIR&gt;          </a:t>
            </a:r>
            <a:r>
              <a:rPr lang="en-US" dirty="0" err="1"/>
              <a:t>abstractInputOutput</a:t>
            </a:r>
            <a:endParaRPr lang="en-US" dirty="0"/>
          </a:p>
          <a:p>
            <a:r>
              <a:rPr lang="en-US" dirty="0"/>
              <a:t>10/02/2020  01:31 PM    &lt;DIR&gt;          </a:t>
            </a:r>
            <a:r>
              <a:rPr lang="en-US" dirty="0" err="1"/>
              <a:t>basicInheritance</a:t>
            </a:r>
            <a:endParaRPr lang="en-US" dirty="0"/>
          </a:p>
          <a:p>
            <a:r>
              <a:rPr lang="en-US" dirty="0"/>
              <a:t>10/02/2020  01:31 PM    &lt;DIR&gt;          </a:t>
            </a:r>
            <a:r>
              <a:rPr lang="en-US" dirty="0" err="1"/>
              <a:t>CarCityVersion</a:t>
            </a:r>
            <a:endParaRPr lang="en-US" dirty="0"/>
          </a:p>
          <a:p>
            <a:r>
              <a:rPr lang="en-US" dirty="0"/>
              <a:t>10/02/2020  01:31 PM    &lt;DIR&gt;          </a:t>
            </a:r>
            <a:r>
              <a:rPr lang="en-US" dirty="0" err="1"/>
              <a:t>inheritanceExamples</a:t>
            </a:r>
            <a:endParaRPr lang="en-US" dirty="0"/>
          </a:p>
          <a:p>
            <a:r>
              <a:rPr lang="en-US" dirty="0"/>
              <a:t>10/02/2020  01:31 PM    &lt;DIR&gt;          </a:t>
            </a:r>
            <a:r>
              <a:rPr lang="en-US" dirty="0" err="1"/>
              <a:t>listsAndArrays</a:t>
            </a:r>
            <a:endParaRPr lang="en-US" dirty="0"/>
          </a:p>
          <a:p>
            <a:r>
              <a:rPr lang="en-US" dirty="0"/>
              <a:t>10/02/2020  01:31 PM    &lt;DIR&gt;          SimpleExamples_v10</a:t>
            </a:r>
          </a:p>
          <a:p>
            <a:r>
              <a:rPr lang="en-US" dirty="0"/>
              <a:t>10/02/2020  01:31 PM    &lt;DIR&gt;          SimpleExamples_v15</a:t>
            </a:r>
          </a:p>
          <a:p>
            <a:r>
              <a:rPr lang="en-US" dirty="0"/>
              <a:t>10/02/2020  01:31 PM    &lt;DIR&gt;          SimpleExamples_v15a</a:t>
            </a:r>
          </a:p>
          <a:p>
            <a:r>
              <a:rPr lang="en-US" dirty="0"/>
              <a:t>10/02/2020  01:31 PM    &lt;DIR&gt;          SimpleExamples_v20</a:t>
            </a:r>
          </a:p>
          <a:p>
            <a:r>
              <a:rPr lang="en-US" dirty="0"/>
              <a:t>10/02/2020  01:31 PM    &lt;DIR&gt;          </a:t>
            </a:r>
            <a:r>
              <a:rPr lang="en-US" dirty="0" err="1"/>
              <a:t>staticExamples</a:t>
            </a:r>
            <a:endParaRPr lang="en-US" dirty="0"/>
          </a:p>
          <a:p>
            <a:r>
              <a:rPr lang="en-US" dirty="0"/>
              <a:t>10/02/2020  01:31 PM    &lt;DIR&gt;          </a:t>
            </a:r>
            <a:r>
              <a:rPr lang="en-US" dirty="0" err="1"/>
              <a:t>transientSerialization</a:t>
            </a:r>
            <a:endParaRPr lang="en-US" dirty="0"/>
          </a:p>
          <a:p>
            <a:r>
              <a:rPr lang="en-US" dirty="0"/>
              <a:t>10/02/2020  01:31 PM    &lt;DIR&gt;          </a:t>
            </a:r>
            <a:r>
              <a:rPr lang="en-US" dirty="0" err="1"/>
              <a:t>VehicleCityVersion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811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357E0-9625-4867-BF81-0EE4AE78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332961"/>
          </a:xfrm>
        </p:spPr>
        <p:txBody>
          <a:bodyPr>
            <a:normAutofit/>
          </a:bodyPr>
          <a:lstStyle/>
          <a:p>
            <a:r>
              <a:rPr lang="en-US" sz="1600" dirty="0"/>
              <a:t>SE 310 - Student Repo</a:t>
            </a:r>
            <a:endParaRPr lang="en-US" sz="160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7B8F8-6A5C-43AA-A296-58058FCD5130}"/>
              </a:ext>
            </a:extLst>
          </p:cNvPr>
          <p:cNvSpPr txBox="1"/>
          <p:nvPr/>
        </p:nvSpPr>
        <p:spPr>
          <a:xfrm>
            <a:off x="0" y="412474"/>
            <a:ext cx="12192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following directories exist. </a:t>
            </a:r>
          </a:p>
          <a:p>
            <a:endParaRPr lang="en-US" dirty="0"/>
          </a:p>
          <a:p>
            <a:r>
              <a:rPr lang="en-US" dirty="0">
                <a:solidFill>
                  <a:schemeClr val="bg1"/>
                </a:solidFill>
                <a:highlight>
                  <a:srgbClr val="E5E51B"/>
                </a:highlight>
              </a:rPr>
              <a:t>10/02/2020  01:31 PM    &lt;DIR&gt;          </a:t>
            </a:r>
            <a:r>
              <a:rPr lang="en-US" dirty="0" err="1">
                <a:solidFill>
                  <a:schemeClr val="bg1"/>
                </a:solidFill>
                <a:highlight>
                  <a:srgbClr val="E5E51B"/>
                </a:highlight>
              </a:rPr>
              <a:t>abstractInputOutput</a:t>
            </a:r>
            <a:endParaRPr lang="en-US" dirty="0">
              <a:solidFill>
                <a:schemeClr val="bg1"/>
              </a:solidFill>
              <a:highlight>
                <a:srgbClr val="E5E51B"/>
              </a:highlight>
            </a:endParaRPr>
          </a:p>
          <a:p>
            <a:r>
              <a:rPr lang="en-US" dirty="0"/>
              <a:t>10/02/2020  01:31 PM    &lt;DIR&gt;          </a:t>
            </a:r>
            <a:r>
              <a:rPr lang="en-US" dirty="0" err="1"/>
              <a:t>basicInheritance</a:t>
            </a:r>
            <a:endParaRPr lang="en-US" dirty="0"/>
          </a:p>
          <a:p>
            <a:r>
              <a:rPr lang="en-US" dirty="0"/>
              <a:t>10/02/2020  01:31 PM    &lt;DIR&gt;          </a:t>
            </a:r>
            <a:r>
              <a:rPr lang="en-US" dirty="0" err="1"/>
              <a:t>CarCityVersion</a:t>
            </a:r>
            <a:endParaRPr lang="en-US" dirty="0"/>
          </a:p>
          <a:p>
            <a:r>
              <a:rPr lang="en-US" dirty="0"/>
              <a:t>10/02/2020  01:31 PM    &lt;DIR&gt;          </a:t>
            </a:r>
            <a:r>
              <a:rPr lang="en-US" dirty="0" err="1"/>
              <a:t>inheritanceExamples</a:t>
            </a:r>
            <a:endParaRPr lang="en-US" dirty="0"/>
          </a:p>
          <a:p>
            <a:r>
              <a:rPr lang="en-US" dirty="0"/>
              <a:t>10/02/2020  01:31 PM    &lt;DIR&gt;          </a:t>
            </a:r>
            <a:r>
              <a:rPr lang="en-US" dirty="0" err="1"/>
              <a:t>listsAndArrays</a:t>
            </a:r>
            <a:endParaRPr lang="en-US" dirty="0"/>
          </a:p>
          <a:p>
            <a:r>
              <a:rPr lang="en-US" dirty="0"/>
              <a:t>10/02/2020  01:31 PM    &lt;DIR&gt;          SimpleExamples_v10</a:t>
            </a:r>
          </a:p>
          <a:p>
            <a:r>
              <a:rPr lang="en-US" dirty="0"/>
              <a:t>10/02/2020  01:31 PM    &lt;DIR&gt;          SimpleExamples_v15</a:t>
            </a:r>
          </a:p>
          <a:p>
            <a:r>
              <a:rPr lang="en-US" dirty="0"/>
              <a:t>10/02/2020  01:31 PM    &lt;DIR&gt;          SimpleExamples_v15a</a:t>
            </a:r>
          </a:p>
          <a:p>
            <a:r>
              <a:rPr lang="en-US" dirty="0"/>
              <a:t>10/02/2020  01:31 PM    &lt;DIR&gt;          SimpleExamples_v20</a:t>
            </a:r>
          </a:p>
          <a:p>
            <a:r>
              <a:rPr lang="en-US" dirty="0"/>
              <a:t>10/02/2020  01:31 PM    &lt;DIR&gt;          </a:t>
            </a:r>
            <a:r>
              <a:rPr lang="en-US" dirty="0" err="1"/>
              <a:t>staticExamples</a:t>
            </a:r>
            <a:endParaRPr lang="en-US" dirty="0"/>
          </a:p>
          <a:p>
            <a:r>
              <a:rPr lang="en-US" dirty="0"/>
              <a:t>10/02/2020  01:31 PM    &lt;DIR&gt;          </a:t>
            </a:r>
            <a:r>
              <a:rPr lang="en-US" dirty="0" err="1"/>
              <a:t>transientSerialization</a:t>
            </a:r>
            <a:endParaRPr lang="en-US" dirty="0"/>
          </a:p>
          <a:p>
            <a:r>
              <a:rPr lang="en-US" dirty="0"/>
              <a:t>10/02/2020  01:31 PM    &lt;DIR&gt;          </a:t>
            </a:r>
            <a:r>
              <a:rPr lang="en-US" dirty="0" err="1"/>
              <a:t>VehicleCityVersion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384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357E0-9625-4867-BF81-0EE4AE78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332961"/>
          </a:xfrm>
        </p:spPr>
        <p:txBody>
          <a:bodyPr>
            <a:normAutofit/>
          </a:bodyPr>
          <a:lstStyle/>
          <a:p>
            <a:r>
              <a:rPr lang="en-US" sz="1600" dirty="0"/>
              <a:t>SE 310 - Student Repo</a:t>
            </a:r>
            <a:endParaRPr lang="en-US" sz="160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7B8F8-6A5C-43AA-A296-58058FCD5130}"/>
              </a:ext>
            </a:extLst>
          </p:cNvPr>
          <p:cNvSpPr txBox="1"/>
          <p:nvPr/>
        </p:nvSpPr>
        <p:spPr>
          <a:xfrm>
            <a:off x="0" y="41247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Abstracted Input and Output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A804D128-2EEC-4103-BA2E-D376B0816E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171253"/>
              </p:ext>
            </p:extLst>
          </p:nvPr>
        </p:nvGraphicFramePr>
        <p:xfrm>
          <a:off x="0" y="972079"/>
          <a:ext cx="4394200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r:id="rId4" imgW="8774280" imgH="9104760" progId="">
                  <p:embed/>
                </p:oleObj>
              </mc:Choice>
              <mc:Fallback>
                <p:oleObj r:id="rId4" imgW="8774280" imgH="910476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972079"/>
                        <a:ext cx="4394200" cy="457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7996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357E0-9625-4867-BF81-0EE4AE78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332961"/>
          </a:xfrm>
        </p:spPr>
        <p:txBody>
          <a:bodyPr>
            <a:normAutofit/>
          </a:bodyPr>
          <a:lstStyle/>
          <a:p>
            <a:r>
              <a:rPr lang="en-US" sz="1600" dirty="0"/>
              <a:t>SE 310 - Student Repo</a:t>
            </a:r>
            <a:endParaRPr lang="en-US" sz="160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7B8F8-6A5C-43AA-A296-58058FCD5130}"/>
              </a:ext>
            </a:extLst>
          </p:cNvPr>
          <p:cNvSpPr txBox="1"/>
          <p:nvPr/>
        </p:nvSpPr>
        <p:spPr>
          <a:xfrm>
            <a:off x="0" y="41247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 Inheritance – This is mislabeled should be Parameter Passing.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ECCDF41-CE0F-477E-8F14-180AE17AF4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7050355"/>
              </p:ext>
            </p:extLst>
          </p:nvPr>
        </p:nvGraphicFramePr>
        <p:xfrm>
          <a:off x="0" y="972079"/>
          <a:ext cx="4394200" cy="374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r:id="rId4" imgW="8774280" imgH="7453800" progId="">
                  <p:embed/>
                </p:oleObj>
              </mc:Choice>
              <mc:Fallback>
                <p:oleObj r:id="rId4" imgW="8774280" imgH="74538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972079"/>
                        <a:ext cx="4394200" cy="3746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794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14505C36-6498-45EA-9F61-D453777AE3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5957883"/>
              </p:ext>
            </p:extLst>
          </p:nvPr>
        </p:nvGraphicFramePr>
        <p:xfrm>
          <a:off x="0" y="972079"/>
          <a:ext cx="4394200" cy="494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r:id="rId4" imgW="8774280" imgH="9840960" progId="">
                  <p:embed/>
                </p:oleObj>
              </mc:Choice>
              <mc:Fallback>
                <p:oleObj r:id="rId4" imgW="8774280" imgH="984096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972079"/>
                        <a:ext cx="4394200" cy="4940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08357E0-9625-4867-BF81-0EE4AE78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332961"/>
          </a:xfrm>
        </p:spPr>
        <p:txBody>
          <a:bodyPr>
            <a:normAutofit/>
          </a:bodyPr>
          <a:lstStyle/>
          <a:p>
            <a:r>
              <a:rPr lang="en-US" sz="1600" dirty="0"/>
              <a:t>SE 310 - Student Repo</a:t>
            </a:r>
            <a:endParaRPr lang="en-US" sz="160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7B8F8-6A5C-43AA-A296-58058FCD5130}"/>
              </a:ext>
            </a:extLst>
          </p:cNvPr>
          <p:cNvSpPr txBox="1"/>
          <p:nvPr/>
        </p:nvSpPr>
        <p:spPr>
          <a:xfrm>
            <a:off x="0" y="41247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Inheritance Examples</a:t>
            </a:r>
          </a:p>
        </p:txBody>
      </p:sp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35D84724-D48F-48A0-B833-C9189BA54E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083" y="972079"/>
            <a:ext cx="2628900" cy="524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66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14505C36-6498-45EA-9F61-D453777AE3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972079"/>
          <a:ext cx="4394200" cy="494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r:id="rId4" imgW="8774280" imgH="9840960" progId="">
                  <p:embed/>
                </p:oleObj>
              </mc:Choice>
              <mc:Fallback>
                <p:oleObj r:id="rId4" imgW="8774280" imgH="9840960" progId="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14505C36-6498-45EA-9F61-D453777AE3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972079"/>
                        <a:ext cx="4394200" cy="4940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08357E0-9625-4867-BF81-0EE4AE78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332961"/>
          </a:xfrm>
        </p:spPr>
        <p:txBody>
          <a:bodyPr>
            <a:normAutofit/>
          </a:bodyPr>
          <a:lstStyle/>
          <a:p>
            <a:r>
              <a:rPr lang="en-US" sz="1600" dirty="0"/>
              <a:t>SE 310 - Student Repo</a:t>
            </a:r>
            <a:endParaRPr lang="en-US" sz="160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7B8F8-6A5C-43AA-A296-58058FCD5130}"/>
              </a:ext>
            </a:extLst>
          </p:cNvPr>
          <p:cNvSpPr txBox="1"/>
          <p:nvPr/>
        </p:nvSpPr>
        <p:spPr>
          <a:xfrm>
            <a:off x="0" y="41247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Inheritance Examples</a:t>
            </a:r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489A155D-6928-4044-81FF-FB3B1D1250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643" y="332961"/>
            <a:ext cx="2832100" cy="627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316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357E0-9625-4867-BF81-0EE4AE78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332961"/>
          </a:xfrm>
        </p:spPr>
        <p:txBody>
          <a:bodyPr>
            <a:normAutofit/>
          </a:bodyPr>
          <a:lstStyle/>
          <a:p>
            <a:r>
              <a:rPr lang="en-US" sz="1600" dirty="0"/>
              <a:t>SE 310 - Student Repo</a:t>
            </a:r>
            <a:endParaRPr lang="en-US" sz="160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7B8F8-6A5C-43AA-A296-58058FCD5130}"/>
              </a:ext>
            </a:extLst>
          </p:cNvPr>
          <p:cNvSpPr txBox="1"/>
          <p:nvPr/>
        </p:nvSpPr>
        <p:spPr>
          <a:xfrm>
            <a:off x="0" y="41247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Lists and Arrays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2529F58D-3B15-45A9-B346-B850F15AD1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4730600"/>
              </p:ext>
            </p:extLst>
          </p:nvPr>
        </p:nvGraphicFramePr>
        <p:xfrm>
          <a:off x="0" y="972079"/>
          <a:ext cx="4394200" cy="374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r:id="rId4" imgW="8774280" imgH="7453800" progId="">
                  <p:embed/>
                </p:oleObj>
              </mc:Choice>
              <mc:Fallback>
                <p:oleObj r:id="rId4" imgW="8774280" imgH="74538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972079"/>
                        <a:ext cx="4394200" cy="3746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73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72FBFE4-ADDD-453B-8226-946D80B085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2348553"/>
              </p:ext>
            </p:extLst>
          </p:nvPr>
        </p:nvGraphicFramePr>
        <p:xfrm>
          <a:off x="0" y="972079"/>
          <a:ext cx="4394200" cy="479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r:id="rId4" imgW="8774280" imgH="9549000" progId="">
                  <p:embed/>
                </p:oleObj>
              </mc:Choice>
              <mc:Fallback>
                <p:oleObj r:id="rId4" imgW="8774280" imgH="95490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972079"/>
                        <a:ext cx="4394200" cy="4794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08357E0-9625-4867-BF81-0EE4AE78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332961"/>
          </a:xfrm>
        </p:spPr>
        <p:txBody>
          <a:bodyPr>
            <a:normAutofit/>
          </a:bodyPr>
          <a:lstStyle/>
          <a:p>
            <a:r>
              <a:rPr lang="en-US" sz="1600" dirty="0"/>
              <a:t>SE 310 - Student Repo</a:t>
            </a:r>
            <a:endParaRPr lang="en-US" sz="160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7B8F8-6A5C-43AA-A296-58058FCD5130}"/>
              </a:ext>
            </a:extLst>
          </p:cNvPr>
          <p:cNvSpPr txBox="1"/>
          <p:nvPr/>
        </p:nvSpPr>
        <p:spPr>
          <a:xfrm>
            <a:off x="0" y="41247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Static Examples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A03108-4A97-4ACC-A438-4D593D908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8960" y="972079"/>
            <a:ext cx="6543040" cy="398570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SquareRoot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Calculate a square root without using the 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Math.sqrt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() function. This requires an</a:t>
            </a:r>
            <a:b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// integer input instead of a double value.</a:t>
            </a:r>
            <a:b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double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squareRoot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value){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double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tmp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double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sqrt = value /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tmp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sqrt;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sqrt = 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tmp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+ (value /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tmp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 /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while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tmp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- sqrt) !=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sqrt;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(String[]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args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Use the static function to get the sqrt</a:t>
            </a:r>
            <a:b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double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sqrtOf4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SquareRoot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squareRoot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4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double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sqrtOf100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SquareRoot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squareRoot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System.out.println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"sqrtOf4: "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sqrtOf4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System.out.println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"sqrtOf100: "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sqrtOf100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404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3BA4F0C-E4C4-422F-A00D-44E17D5218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477529"/>
              </p:ext>
            </p:extLst>
          </p:nvPr>
        </p:nvGraphicFramePr>
        <p:xfrm>
          <a:off x="0" y="972079"/>
          <a:ext cx="4394200" cy="479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r:id="rId4" imgW="8774280" imgH="9549000" progId="">
                  <p:embed/>
                </p:oleObj>
              </mc:Choice>
              <mc:Fallback>
                <p:oleObj r:id="rId4" imgW="8774280" imgH="95490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972079"/>
                        <a:ext cx="4394200" cy="4794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08357E0-9625-4867-BF81-0EE4AE78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332961"/>
          </a:xfrm>
        </p:spPr>
        <p:txBody>
          <a:bodyPr>
            <a:normAutofit/>
          </a:bodyPr>
          <a:lstStyle/>
          <a:p>
            <a:r>
              <a:rPr lang="en-US" sz="1600" dirty="0"/>
              <a:t>SE 310 - Student Repo</a:t>
            </a:r>
            <a:endParaRPr lang="en-US" sz="160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7B8F8-6A5C-43AA-A296-58058FCD5130}"/>
              </a:ext>
            </a:extLst>
          </p:cNvPr>
          <p:cNvSpPr txBox="1"/>
          <p:nvPr/>
        </p:nvSpPr>
        <p:spPr>
          <a:xfrm>
            <a:off x="0" y="41247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Static Examples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E44E52A-5CCF-4456-BE0B-F84A3238C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8960" y="972079"/>
            <a:ext cx="6543040" cy="4755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Counter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static int 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count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tick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 ++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count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 }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int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getCount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count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 }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(String[] args){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Display the initial value for count</a:t>
            </a:r>
            <a:b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System.out.println(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"Initial count: "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Counter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getCount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Increment the counter</a:t>
            </a:r>
            <a:b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Counter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tick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Display the new value for the count</a:t>
            </a:r>
            <a:b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System.out.println(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"Count after tick: "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Counter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getCount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Tick the counter in a function and show that it updates the value here as well</a:t>
            </a:r>
            <a:b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tickInFunction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System.out.println(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"Count after tickInFunction: "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Counter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getCount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tickInFunction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Counter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tick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715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C590115-5147-4184-9850-7CAC77602E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1985741"/>
              </p:ext>
            </p:extLst>
          </p:nvPr>
        </p:nvGraphicFramePr>
        <p:xfrm>
          <a:off x="0" y="972079"/>
          <a:ext cx="4394200" cy="479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r:id="rId4" imgW="8774280" imgH="9549000" progId="">
                  <p:embed/>
                </p:oleObj>
              </mc:Choice>
              <mc:Fallback>
                <p:oleObj r:id="rId4" imgW="8774280" imgH="95490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972079"/>
                        <a:ext cx="4394200" cy="4794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08357E0-9625-4867-BF81-0EE4AE78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332961"/>
          </a:xfrm>
        </p:spPr>
        <p:txBody>
          <a:bodyPr>
            <a:normAutofit/>
          </a:bodyPr>
          <a:lstStyle/>
          <a:p>
            <a:r>
              <a:rPr lang="en-US" sz="1600" dirty="0"/>
              <a:t>SE 310 - Student Repo</a:t>
            </a:r>
            <a:endParaRPr lang="en-US" sz="160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7B8F8-6A5C-43AA-A296-58058FCD5130}"/>
              </a:ext>
            </a:extLst>
          </p:cNvPr>
          <p:cNvSpPr txBox="1"/>
          <p:nvPr/>
        </p:nvSpPr>
        <p:spPr>
          <a:xfrm>
            <a:off x="0" y="41247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Transient Serialization Examples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E44E52A-5CCF-4456-BE0B-F84A3238C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8960" y="972079"/>
            <a:ext cx="6543040" cy="4755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Counter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static int 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count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tick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 ++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count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 }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int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getCount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count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 }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(String[] args){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Display the initial value for count</a:t>
            </a:r>
            <a:b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System.out.println(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"Initial count: "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Counter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getCount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Increment the counter</a:t>
            </a:r>
            <a:b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Counter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tick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Display the new value for the count</a:t>
            </a:r>
            <a:b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System.out.println(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"Count after tick: "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Counter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getCount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Tick the counter in a function and show that it updates the value here as well</a:t>
            </a:r>
            <a:b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tickInFunction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System.out.println(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"Count after tickInFunction: "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Counter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getCount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tickInFunction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Counter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tick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21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A1473A6-3F22-483E-8A30-80B9D2B14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A1375E3-3E53-4D75-BAB7-E5929BFCB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534368" y="563918"/>
            <a:ext cx="4119932" cy="5978614"/>
            <a:chOff x="7513372" y="803186"/>
            <a:chExt cx="4163968" cy="5978614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0BBEEF67-3DDF-46CF-8CD5-EA5F0E4FB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89586" y="1070835"/>
              <a:ext cx="687754" cy="5710965"/>
            </a:xfrm>
            <a:custGeom>
              <a:avLst/>
              <a:gdLst>
                <a:gd name="T0" fmla="*/ 414 w 414"/>
                <a:gd name="T1" fmla="*/ 2447 h 2447"/>
                <a:gd name="T2" fmla="*/ 0 w 414"/>
                <a:gd name="T3" fmla="*/ 2247 h 2447"/>
                <a:gd name="T4" fmla="*/ 0 w 414"/>
                <a:gd name="T5" fmla="*/ 0 h 2447"/>
                <a:gd name="T6" fmla="*/ 414 w 414"/>
                <a:gd name="T7" fmla="*/ 200 h 2447"/>
                <a:gd name="T8" fmla="*/ 414 w 414"/>
                <a:gd name="T9" fmla="*/ 2447 h 2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4" h="2447">
                  <a:moveTo>
                    <a:pt x="414" y="2447"/>
                  </a:moveTo>
                  <a:lnTo>
                    <a:pt x="0" y="2247"/>
                  </a:lnTo>
                  <a:lnTo>
                    <a:pt x="0" y="0"/>
                  </a:lnTo>
                  <a:lnTo>
                    <a:pt x="414" y="200"/>
                  </a:lnTo>
                  <a:lnTo>
                    <a:pt x="414" y="244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8FAC1C95-F817-487C-B8B2-CF141FBB1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88949" y="803186"/>
              <a:ext cx="409371" cy="5521414"/>
            </a:xfrm>
            <a:custGeom>
              <a:avLst/>
              <a:gdLst>
                <a:gd name="T0" fmla="*/ 209 w 209"/>
                <a:gd name="T1" fmla="*/ 2246 h 2358"/>
                <a:gd name="T2" fmla="*/ 0 w 209"/>
                <a:gd name="T3" fmla="*/ 2358 h 2358"/>
                <a:gd name="T4" fmla="*/ 0 w 209"/>
                <a:gd name="T5" fmla="*/ 111 h 2358"/>
                <a:gd name="T6" fmla="*/ 209 w 209"/>
                <a:gd name="T7" fmla="*/ 0 h 2358"/>
                <a:gd name="T8" fmla="*/ 209 w 209"/>
                <a:gd name="T9" fmla="*/ 2246 h 2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9" h="2358">
                  <a:moveTo>
                    <a:pt x="209" y="2246"/>
                  </a:moveTo>
                  <a:lnTo>
                    <a:pt x="0" y="2358"/>
                  </a:lnTo>
                  <a:lnTo>
                    <a:pt x="0" y="111"/>
                  </a:lnTo>
                  <a:lnTo>
                    <a:pt x="209" y="0"/>
                  </a:lnTo>
                  <a:lnTo>
                    <a:pt x="209" y="2246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C2C5363A-D941-4AA1-8D38-D7E44A1E2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13372" y="804101"/>
              <a:ext cx="3880238" cy="52516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08357E0-9625-4867-BF81-0EE4AE78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468" y="885651"/>
            <a:ext cx="3229803" cy="46246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Applied Examples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7B8F8-6A5C-43AA-A296-58058FCD5130}"/>
              </a:ext>
            </a:extLst>
          </p:cNvPr>
          <p:cNvSpPr txBox="1"/>
          <p:nvPr/>
        </p:nvSpPr>
        <p:spPr>
          <a:xfrm>
            <a:off x="4978708" y="885651"/>
            <a:ext cx="6525220" cy="4616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dirty="0"/>
              <a:t>Designed to show an ever-growing example which should give you an idea of the scope of what’s needed for homework #2.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1688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B7287AA0-37D8-4B5B-8D9C-4F8868CC9B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1319"/>
            <a:ext cx="12192000" cy="41815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8357E0-9625-4867-BF81-0EE4AE78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332961"/>
          </a:xfrm>
        </p:spPr>
        <p:txBody>
          <a:bodyPr>
            <a:normAutofit/>
          </a:bodyPr>
          <a:lstStyle/>
          <a:p>
            <a:r>
              <a:rPr lang="en-US" sz="1600" dirty="0"/>
              <a:t>SE 310 - Student Repo</a:t>
            </a:r>
            <a:endParaRPr lang="en-US" sz="160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7B8F8-6A5C-43AA-A296-58058FCD5130}"/>
              </a:ext>
            </a:extLst>
          </p:cNvPr>
          <p:cNvSpPr txBox="1"/>
          <p:nvPr/>
        </p:nvSpPr>
        <p:spPr>
          <a:xfrm>
            <a:off x="0" y="41247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Simple Examples v10</a:t>
            </a:r>
          </a:p>
        </p:txBody>
      </p:sp>
    </p:spTree>
    <p:extLst>
      <p:ext uri="{BB962C8B-B14F-4D97-AF65-F5344CB8AC3E}">
        <p14:creationId xmlns:p14="http://schemas.microsoft.com/office/powerpoint/2010/main" val="1691792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16740883-E424-4C60-95B8-B8AB305423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1319"/>
            <a:ext cx="12192000" cy="30176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8357E0-9625-4867-BF81-0EE4AE78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332961"/>
          </a:xfrm>
        </p:spPr>
        <p:txBody>
          <a:bodyPr>
            <a:normAutofit/>
          </a:bodyPr>
          <a:lstStyle/>
          <a:p>
            <a:r>
              <a:rPr lang="en-US" sz="1600" dirty="0"/>
              <a:t>SE 310 - Student Repo</a:t>
            </a:r>
            <a:endParaRPr lang="en-US" sz="160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7B8F8-6A5C-43AA-A296-58058FCD5130}"/>
              </a:ext>
            </a:extLst>
          </p:cNvPr>
          <p:cNvSpPr txBox="1"/>
          <p:nvPr/>
        </p:nvSpPr>
        <p:spPr>
          <a:xfrm>
            <a:off x="0" y="41247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Simple Examples v15</a:t>
            </a:r>
          </a:p>
        </p:txBody>
      </p:sp>
    </p:spTree>
    <p:extLst>
      <p:ext uri="{BB962C8B-B14F-4D97-AF65-F5344CB8AC3E}">
        <p14:creationId xmlns:p14="http://schemas.microsoft.com/office/powerpoint/2010/main" val="1509742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DF6B1FF1-68C0-4B3A-8CA7-758187E9B9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1319"/>
            <a:ext cx="12192000" cy="41385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8357E0-9625-4867-BF81-0EE4AE78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332961"/>
          </a:xfrm>
        </p:spPr>
        <p:txBody>
          <a:bodyPr>
            <a:normAutofit/>
          </a:bodyPr>
          <a:lstStyle/>
          <a:p>
            <a:r>
              <a:rPr lang="en-US" sz="1600" dirty="0"/>
              <a:t>SE 310 - Student Repo</a:t>
            </a:r>
            <a:endParaRPr lang="en-US" sz="160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7B8F8-6A5C-43AA-A296-58058FCD5130}"/>
              </a:ext>
            </a:extLst>
          </p:cNvPr>
          <p:cNvSpPr txBox="1"/>
          <p:nvPr/>
        </p:nvSpPr>
        <p:spPr>
          <a:xfrm>
            <a:off x="0" y="41247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Simple Examples v20</a:t>
            </a:r>
          </a:p>
        </p:txBody>
      </p:sp>
    </p:spTree>
    <p:extLst>
      <p:ext uri="{BB962C8B-B14F-4D97-AF65-F5344CB8AC3E}">
        <p14:creationId xmlns:p14="http://schemas.microsoft.com/office/powerpoint/2010/main" val="3133354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357E0-9625-4867-BF81-0EE4AE78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332961"/>
          </a:xfrm>
        </p:spPr>
        <p:txBody>
          <a:bodyPr>
            <a:normAutofit/>
          </a:bodyPr>
          <a:lstStyle/>
          <a:p>
            <a:r>
              <a:rPr lang="en-US" sz="1600" dirty="0"/>
              <a:t>SE 310 - Student Repo</a:t>
            </a:r>
            <a:endParaRPr lang="en-US" sz="160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7B8F8-6A5C-43AA-A296-58058FCD5130}"/>
              </a:ext>
            </a:extLst>
          </p:cNvPr>
          <p:cNvSpPr txBox="1"/>
          <p:nvPr/>
        </p:nvSpPr>
        <p:spPr>
          <a:xfrm>
            <a:off x="0" y="41247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Car / </a:t>
            </a:r>
            <a:r>
              <a:rPr lang="en-US" dirty="0"/>
              <a:t>Vehicle City Version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21FD6A4B-8764-4D03-A0F6-FC5687F537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8575" y="0"/>
            <a:ext cx="87034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51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3858</TotalTime>
  <Words>1596</Words>
  <Application>Microsoft Office PowerPoint</Application>
  <PresentationFormat>Widescreen</PresentationFormat>
  <Paragraphs>131</Paragraphs>
  <Slides>17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JetBrains Mono</vt:lpstr>
      <vt:lpstr>Office Theme</vt:lpstr>
      <vt:lpstr>Student Repo</vt:lpstr>
      <vt:lpstr>Generic Examples</vt:lpstr>
      <vt:lpstr>SE 310 - Student Repo</vt:lpstr>
      <vt:lpstr>SE 310 - Student Repo</vt:lpstr>
      <vt:lpstr>SE 310 - Student Repo</vt:lpstr>
      <vt:lpstr>SE 310 - Student Repo</vt:lpstr>
      <vt:lpstr>SE 310 - Student Repo</vt:lpstr>
      <vt:lpstr>SE 310 - Student Repo</vt:lpstr>
      <vt:lpstr>SE 310 - Student Repo</vt:lpstr>
      <vt:lpstr>SE 310 - Student Repo</vt:lpstr>
      <vt:lpstr>SE 310 - Student Repo</vt:lpstr>
      <vt:lpstr>SE 310 - Student Repo</vt:lpstr>
      <vt:lpstr>Applied Examples</vt:lpstr>
      <vt:lpstr>SE 310 - Student Repo</vt:lpstr>
      <vt:lpstr>SE 310 - Student Repo</vt:lpstr>
      <vt:lpstr>SE 310 - Student Repo</vt:lpstr>
      <vt:lpstr>SE 310 - Student Repo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  #1  Basic Maze and File Parsing</dc:title>
  <dc:creator>Jeff Salvage</dc:creator>
  <cp:lastModifiedBy>Salvage,Jeff</cp:lastModifiedBy>
  <cp:revision>71</cp:revision>
  <dcterms:created xsi:type="dcterms:W3CDTF">2020-03-25T01:07:02Z</dcterms:created>
  <dcterms:modified xsi:type="dcterms:W3CDTF">2020-10-09T18:43:45Z</dcterms:modified>
</cp:coreProperties>
</file>